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59993" y="550621"/>
            <a:ext cx="572770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1CACE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04040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1CACE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04040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1CACE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1CACE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198"/>
            <a:ext cx="3703320" cy="95250"/>
          </a:xfrm>
          <a:custGeom>
            <a:avLst/>
            <a:gdLst/>
            <a:ahLst/>
            <a:cxnLst/>
            <a:rect l="l" t="t" r="r" b="b"/>
            <a:pathLst>
              <a:path w="3703320" h="95250">
                <a:moveTo>
                  <a:pt x="3703320" y="0"/>
                </a:moveTo>
                <a:lnTo>
                  <a:pt x="0" y="0"/>
                </a:lnTo>
                <a:lnTo>
                  <a:pt x="0" y="94997"/>
                </a:lnTo>
                <a:lnTo>
                  <a:pt x="3703320" y="94997"/>
                </a:lnTo>
                <a:lnTo>
                  <a:pt x="3703320" y="0"/>
                </a:lnTo>
                <a:close/>
              </a:path>
            </a:pathLst>
          </a:custGeom>
          <a:solidFill>
            <a:srgbClr val="4652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042147" y="453641"/>
            <a:ext cx="3703320" cy="99060"/>
          </a:xfrm>
          <a:custGeom>
            <a:avLst/>
            <a:gdLst/>
            <a:ahLst/>
            <a:cxnLst/>
            <a:rect l="l" t="t" r="r" b="b"/>
            <a:pathLst>
              <a:path w="3703320" h="99059">
                <a:moveTo>
                  <a:pt x="3703320" y="0"/>
                </a:moveTo>
                <a:lnTo>
                  <a:pt x="0" y="0"/>
                </a:lnTo>
                <a:lnTo>
                  <a:pt x="0" y="98554"/>
                </a:lnTo>
                <a:lnTo>
                  <a:pt x="3703320" y="98554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241800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20" y="0"/>
                </a:moveTo>
                <a:lnTo>
                  <a:pt x="0" y="0"/>
                </a:lnTo>
                <a:lnTo>
                  <a:pt x="0" y="91439"/>
                </a:lnTo>
                <a:lnTo>
                  <a:pt x="3703320" y="91439"/>
                </a:lnTo>
                <a:lnTo>
                  <a:pt x="3703320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07874" y="6447154"/>
            <a:ext cx="1093769" cy="3373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9993" y="550621"/>
            <a:ext cx="727265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1CACE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9993" y="2223007"/>
            <a:ext cx="9843770" cy="2083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04040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20339" y="2179065"/>
            <a:ext cx="54241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95" b="1">
                <a:solidFill>
                  <a:srgbClr val="00AFEF"/>
                </a:solidFill>
                <a:latin typeface="Trebuchet MS"/>
                <a:cs typeface="Trebuchet MS"/>
              </a:rPr>
              <a:t>ONLINE</a:t>
            </a:r>
            <a:r>
              <a:rPr dirty="0" sz="3600" spc="-18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3600" spc="-60" b="1">
                <a:solidFill>
                  <a:srgbClr val="00AFEF"/>
                </a:solidFill>
                <a:latin typeface="Trebuchet MS"/>
                <a:cs typeface="Trebuchet MS"/>
              </a:rPr>
              <a:t>QUIZ</a:t>
            </a:r>
            <a:r>
              <a:rPr dirty="0" sz="3600" spc="-18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3600" spc="-90" b="1">
                <a:solidFill>
                  <a:srgbClr val="00AFEF"/>
                </a:solidFill>
                <a:latin typeface="Trebuchet MS"/>
                <a:cs typeface="Trebuchet MS"/>
              </a:rPr>
              <a:t>APPLICATION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8326" y="1055065"/>
            <a:ext cx="431165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1382AC"/>
                </a:solidFill>
              </a:rPr>
              <a:t>CAPSTONE</a:t>
            </a:r>
            <a:r>
              <a:rPr dirty="0" sz="3200" spc="-100">
                <a:solidFill>
                  <a:srgbClr val="1382AC"/>
                </a:solidFill>
              </a:rPr>
              <a:t> </a:t>
            </a:r>
            <a:r>
              <a:rPr dirty="0" sz="3200" spc="-10">
                <a:solidFill>
                  <a:srgbClr val="1382AC"/>
                </a:solidFill>
              </a:rPr>
              <a:t>PROJECT</a:t>
            </a:r>
            <a:endParaRPr sz="3200"/>
          </a:p>
        </p:txBody>
      </p:sp>
      <p:sp>
        <p:nvSpPr>
          <p:cNvPr id="4" name="object 4" descr=""/>
          <p:cNvSpPr txBox="1"/>
          <p:nvPr/>
        </p:nvSpPr>
        <p:spPr>
          <a:xfrm>
            <a:off x="446531" y="3085719"/>
            <a:ext cx="11299190" cy="3338195"/>
          </a:xfrm>
          <a:prstGeom prst="rect">
            <a:avLst/>
          </a:prstGeom>
          <a:solidFill>
            <a:srgbClr val="4652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2000">
              <a:latin typeface="Times New Roman"/>
              <a:cs typeface="Times New Roman"/>
            </a:endParaRPr>
          </a:p>
          <a:p>
            <a:pPr marL="2762250">
              <a:lnSpc>
                <a:spcPct val="100000"/>
              </a:lnSpc>
            </a:pPr>
            <a:r>
              <a:rPr dirty="0" sz="2000" b="1">
                <a:solidFill>
                  <a:srgbClr val="1382AC"/>
                </a:solidFill>
                <a:latin typeface="Arial"/>
                <a:cs typeface="Arial"/>
              </a:rPr>
              <a:t>Presented</a:t>
            </a:r>
            <a:r>
              <a:rPr dirty="0" sz="2000" spc="-30" b="1">
                <a:solidFill>
                  <a:srgbClr val="1382AC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1382AC"/>
                </a:solidFill>
                <a:latin typeface="Arial"/>
                <a:cs typeface="Arial"/>
              </a:rPr>
              <a:t>By:</a:t>
            </a:r>
            <a:endParaRPr sz="2000">
              <a:latin typeface="Arial"/>
              <a:cs typeface="Arial"/>
            </a:endParaRPr>
          </a:p>
          <a:p>
            <a:pPr marL="2762250">
              <a:lnSpc>
                <a:spcPct val="100000"/>
              </a:lnSpc>
            </a:pPr>
            <a:r>
              <a:rPr dirty="0" sz="2000" b="1">
                <a:solidFill>
                  <a:srgbClr val="1382AC"/>
                </a:solidFill>
                <a:latin typeface="Arial"/>
                <a:cs typeface="Arial"/>
              </a:rPr>
              <a:t>1.</a:t>
            </a:r>
            <a:r>
              <a:rPr dirty="0" sz="2000" spc="-20" b="1">
                <a:solidFill>
                  <a:srgbClr val="1382AC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82AC"/>
                </a:solidFill>
                <a:latin typeface="Arial"/>
                <a:cs typeface="Arial"/>
              </a:rPr>
              <a:t>Mouli</a:t>
            </a:r>
            <a:r>
              <a:rPr dirty="0" sz="2000" spc="-10" b="1">
                <a:solidFill>
                  <a:srgbClr val="1382AC"/>
                </a:solidFill>
                <a:latin typeface="Arial"/>
                <a:cs typeface="Arial"/>
              </a:rPr>
              <a:t> Duggirala-Velagapudi</a:t>
            </a:r>
            <a:r>
              <a:rPr dirty="0" sz="2000" spc="-40" b="1">
                <a:solidFill>
                  <a:srgbClr val="1382AC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82AC"/>
                </a:solidFill>
                <a:latin typeface="Arial"/>
                <a:cs typeface="Arial"/>
              </a:rPr>
              <a:t>Ramakrishna</a:t>
            </a:r>
            <a:r>
              <a:rPr dirty="0" sz="2000" spc="-35" b="1">
                <a:solidFill>
                  <a:srgbClr val="1382AC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382AC"/>
                </a:solidFill>
                <a:latin typeface="Arial"/>
                <a:cs typeface="Arial"/>
              </a:rPr>
              <a:t>Siddhartha</a:t>
            </a:r>
            <a:endParaRPr sz="2000">
              <a:latin typeface="Arial"/>
              <a:cs typeface="Arial"/>
            </a:endParaRPr>
          </a:p>
          <a:p>
            <a:pPr marL="276225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solidFill>
                  <a:srgbClr val="1382AC"/>
                </a:solidFill>
                <a:latin typeface="Arial"/>
                <a:cs typeface="Arial"/>
              </a:rPr>
              <a:t>Engineering</a:t>
            </a:r>
            <a:r>
              <a:rPr dirty="0" sz="2000" spc="-30" b="1">
                <a:solidFill>
                  <a:srgbClr val="1382AC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382AC"/>
                </a:solidFill>
                <a:latin typeface="Arial"/>
                <a:cs typeface="Arial"/>
              </a:rPr>
              <a:t>College-</a:t>
            </a:r>
            <a:r>
              <a:rPr dirty="0" sz="2000" b="1">
                <a:solidFill>
                  <a:srgbClr val="1382AC"/>
                </a:solidFill>
                <a:latin typeface="Arial"/>
                <a:cs typeface="Arial"/>
              </a:rPr>
              <a:t>Computer</a:t>
            </a:r>
            <a:r>
              <a:rPr dirty="0" sz="2000" spc="-45" b="1">
                <a:solidFill>
                  <a:srgbClr val="1382AC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82AC"/>
                </a:solidFill>
                <a:latin typeface="Arial"/>
                <a:cs typeface="Arial"/>
              </a:rPr>
              <a:t>Science</a:t>
            </a:r>
            <a:r>
              <a:rPr dirty="0" sz="2000" spc="-25" b="1">
                <a:solidFill>
                  <a:srgbClr val="1382AC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82AC"/>
                </a:solidFill>
                <a:latin typeface="Arial"/>
                <a:cs typeface="Arial"/>
              </a:rPr>
              <a:t>and</a:t>
            </a:r>
            <a:r>
              <a:rPr dirty="0" sz="2000" spc="-15" b="1">
                <a:solidFill>
                  <a:srgbClr val="1382AC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382AC"/>
                </a:solidFill>
                <a:latin typeface="Arial"/>
                <a:cs typeface="Arial"/>
              </a:rPr>
              <a:t>Engineering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8522" y="1389710"/>
            <a:ext cx="158305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001F5F"/>
                </a:solidFill>
              </a:rPr>
              <a:t>OUTLINE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955262"/>
            <a:ext cx="6481445" cy="333311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415"/>
              </a:spcBef>
              <a:buClr>
                <a:srgbClr val="1CACE3"/>
              </a:buClr>
              <a:buSzPct val="90000"/>
              <a:buFont typeface="Cambria"/>
              <a:buChar char="◾"/>
              <a:tabLst>
                <a:tab pos="317500" algn="l"/>
              </a:tabLst>
            </a:pPr>
            <a:r>
              <a:rPr dirty="0" sz="2000" b="1">
                <a:solidFill>
                  <a:srgbClr val="404040"/>
                </a:solidFill>
                <a:latin typeface="Arial"/>
                <a:cs typeface="Arial"/>
              </a:rPr>
              <a:t>Problem</a:t>
            </a:r>
            <a:r>
              <a:rPr dirty="0" sz="2000" spc="-4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404040"/>
                </a:solidFill>
                <a:latin typeface="Arial"/>
                <a:cs typeface="Arial"/>
              </a:rPr>
              <a:t>Statement</a:t>
            </a:r>
            <a:r>
              <a:rPr dirty="0" sz="2000" spc="-4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04040"/>
                </a:solidFill>
                <a:latin typeface="Arial MT"/>
                <a:cs typeface="Arial MT"/>
              </a:rPr>
              <a:t>(Should</a:t>
            </a:r>
            <a:r>
              <a:rPr dirty="0" sz="2000" spc="-45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04040"/>
                </a:solidFill>
                <a:latin typeface="Arial MT"/>
                <a:cs typeface="Arial MT"/>
              </a:rPr>
              <a:t>not</a:t>
            </a:r>
            <a:r>
              <a:rPr dirty="0" sz="2000" spc="-35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04040"/>
                </a:solidFill>
                <a:latin typeface="Arial MT"/>
                <a:cs typeface="Arial MT"/>
              </a:rPr>
              <a:t>include</a:t>
            </a:r>
            <a:r>
              <a:rPr dirty="0" sz="2000" spc="-35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Arial MT"/>
                <a:cs typeface="Arial MT"/>
              </a:rPr>
              <a:t>solution)</a:t>
            </a:r>
            <a:endParaRPr sz="200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1320"/>
              </a:spcBef>
              <a:buClr>
                <a:srgbClr val="1CACE3"/>
              </a:buClr>
              <a:buSzPct val="90000"/>
              <a:buFont typeface="Cambria"/>
              <a:buChar char="◾"/>
              <a:tabLst>
                <a:tab pos="317500" algn="l"/>
              </a:tabLst>
            </a:pPr>
            <a:r>
              <a:rPr dirty="0" sz="2000" b="1">
                <a:solidFill>
                  <a:srgbClr val="404040"/>
                </a:solidFill>
                <a:latin typeface="Arial"/>
                <a:cs typeface="Arial"/>
              </a:rPr>
              <a:t>System</a:t>
            </a:r>
            <a:r>
              <a:rPr dirty="0" sz="2000" spc="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Arial"/>
                <a:cs typeface="Arial"/>
              </a:rPr>
              <a:t>Development</a:t>
            </a:r>
            <a:r>
              <a:rPr dirty="0" sz="2000" spc="-9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404040"/>
                </a:solidFill>
                <a:latin typeface="Arial"/>
                <a:cs typeface="Arial"/>
              </a:rPr>
              <a:t>Approach</a:t>
            </a:r>
            <a:r>
              <a:rPr dirty="0" sz="2000" spc="-3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Arial MT"/>
                <a:cs typeface="Arial MT"/>
              </a:rPr>
              <a:t>(Technology</a:t>
            </a:r>
            <a:r>
              <a:rPr dirty="0" sz="2000" spc="-55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Arial MT"/>
                <a:cs typeface="Arial MT"/>
              </a:rPr>
              <a:t>Used)</a:t>
            </a:r>
            <a:endParaRPr sz="200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1320"/>
              </a:spcBef>
              <a:buClr>
                <a:srgbClr val="1CACE3"/>
              </a:buClr>
              <a:buSzPct val="90000"/>
              <a:buFont typeface="Cambria"/>
              <a:buChar char="◾"/>
              <a:tabLst>
                <a:tab pos="317500" algn="l"/>
                <a:tab pos="5125720" algn="l"/>
              </a:tabLst>
            </a:pPr>
            <a:r>
              <a:rPr dirty="0" sz="2000" b="1">
                <a:solidFill>
                  <a:srgbClr val="404040"/>
                </a:solidFill>
                <a:latin typeface="Arial"/>
                <a:cs typeface="Arial"/>
              </a:rPr>
              <a:t>Algorithm</a:t>
            </a:r>
            <a:r>
              <a:rPr dirty="0" sz="2000" spc="-7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404040"/>
                </a:solidFill>
                <a:latin typeface="Arial"/>
                <a:cs typeface="Arial"/>
              </a:rPr>
              <a:t>&amp;</a:t>
            </a:r>
            <a:r>
              <a:rPr dirty="0" sz="2000" spc="-4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404040"/>
                </a:solidFill>
                <a:latin typeface="Arial"/>
                <a:cs typeface="Arial"/>
              </a:rPr>
              <a:t>Deployment</a:t>
            </a:r>
            <a:r>
              <a:rPr dirty="0" sz="2000" spc="-2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404040"/>
                </a:solidFill>
                <a:latin typeface="Arial"/>
                <a:cs typeface="Arial"/>
              </a:rPr>
              <a:t>(Step</a:t>
            </a:r>
            <a:r>
              <a:rPr dirty="0" sz="2000" spc="-6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404040"/>
                </a:solidFill>
                <a:latin typeface="Arial"/>
                <a:cs typeface="Arial"/>
              </a:rPr>
              <a:t>by</a:t>
            </a:r>
            <a:r>
              <a:rPr dirty="0" sz="2000" spc="-4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404040"/>
                </a:solidFill>
                <a:latin typeface="Arial"/>
                <a:cs typeface="Arial"/>
              </a:rPr>
              <a:t>Step</a:t>
            </a:r>
            <a:r>
              <a:rPr dirty="0" sz="2000" b="1">
                <a:solidFill>
                  <a:srgbClr val="404040"/>
                </a:solidFill>
                <a:latin typeface="Arial"/>
                <a:cs typeface="Arial"/>
              </a:rPr>
              <a:t>	</a:t>
            </a:r>
            <a:r>
              <a:rPr dirty="0" sz="2000" spc="-10" b="1">
                <a:solidFill>
                  <a:srgbClr val="404040"/>
                </a:solidFill>
                <a:latin typeface="Arial"/>
                <a:cs typeface="Arial"/>
              </a:rPr>
              <a:t>Procedure)</a:t>
            </a:r>
            <a:endParaRPr sz="2000">
              <a:latin typeface="Arial"/>
              <a:cs typeface="Arial"/>
            </a:endParaRPr>
          </a:p>
          <a:p>
            <a:pPr marL="317500" indent="-304800">
              <a:lnSpc>
                <a:spcPct val="100000"/>
              </a:lnSpc>
              <a:spcBef>
                <a:spcPts val="1320"/>
              </a:spcBef>
              <a:buClr>
                <a:srgbClr val="1CACE3"/>
              </a:buClr>
              <a:buSzPct val="90000"/>
              <a:buFont typeface="Cambria"/>
              <a:buChar char="◾"/>
              <a:tabLst>
                <a:tab pos="317500" algn="l"/>
              </a:tabLst>
            </a:pPr>
            <a:r>
              <a:rPr dirty="0" sz="2000" spc="-10" b="1">
                <a:solidFill>
                  <a:srgbClr val="404040"/>
                </a:solidFill>
                <a:latin typeface="Arial"/>
                <a:cs typeface="Arial"/>
              </a:rPr>
              <a:t>Result</a:t>
            </a:r>
            <a:endParaRPr sz="2000">
              <a:latin typeface="Arial"/>
              <a:cs typeface="Arial"/>
            </a:endParaRPr>
          </a:p>
          <a:p>
            <a:pPr marL="317500" indent="-304800">
              <a:lnSpc>
                <a:spcPct val="100000"/>
              </a:lnSpc>
              <a:spcBef>
                <a:spcPts val="1320"/>
              </a:spcBef>
              <a:buClr>
                <a:srgbClr val="1CACE3"/>
              </a:buClr>
              <a:buSzPct val="90000"/>
              <a:buFont typeface="Cambria"/>
              <a:buChar char="◾"/>
              <a:tabLst>
                <a:tab pos="317500" algn="l"/>
              </a:tabLst>
            </a:pPr>
            <a:r>
              <a:rPr dirty="0" sz="2000" spc="-10" b="1">
                <a:solidFill>
                  <a:srgbClr val="404040"/>
                </a:solidFill>
                <a:latin typeface="Arial"/>
                <a:cs typeface="Arial"/>
              </a:rPr>
              <a:t>Conclusion</a:t>
            </a:r>
            <a:endParaRPr sz="2000">
              <a:latin typeface="Arial"/>
              <a:cs typeface="Arial"/>
            </a:endParaRPr>
          </a:p>
          <a:p>
            <a:pPr marL="317500" indent="-304800">
              <a:lnSpc>
                <a:spcPct val="100000"/>
              </a:lnSpc>
              <a:spcBef>
                <a:spcPts val="1325"/>
              </a:spcBef>
              <a:buClr>
                <a:srgbClr val="1CACE3"/>
              </a:buClr>
              <a:buSzPct val="90000"/>
              <a:buFont typeface="Cambria"/>
              <a:buChar char="◾"/>
              <a:tabLst>
                <a:tab pos="317500" algn="l"/>
              </a:tabLst>
            </a:pPr>
            <a:r>
              <a:rPr dirty="0" sz="2000" b="1">
                <a:solidFill>
                  <a:srgbClr val="404040"/>
                </a:solidFill>
                <a:latin typeface="Arial"/>
                <a:cs typeface="Arial"/>
              </a:rPr>
              <a:t>Future</a:t>
            </a:r>
            <a:r>
              <a:rPr dirty="0" sz="2000" spc="-4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Arial"/>
                <a:cs typeface="Arial"/>
              </a:rPr>
              <a:t>Scope(Optional)</a:t>
            </a:r>
            <a:endParaRPr sz="2000">
              <a:latin typeface="Arial"/>
              <a:cs typeface="Arial"/>
            </a:endParaRPr>
          </a:p>
          <a:p>
            <a:pPr marL="317500" indent="-304800">
              <a:lnSpc>
                <a:spcPct val="100000"/>
              </a:lnSpc>
              <a:spcBef>
                <a:spcPts val="1320"/>
              </a:spcBef>
              <a:buClr>
                <a:srgbClr val="1CACE3"/>
              </a:buClr>
              <a:buSzPct val="90000"/>
              <a:buFont typeface="Cambria"/>
              <a:buChar char="◾"/>
              <a:tabLst>
                <a:tab pos="317500" algn="l"/>
              </a:tabLst>
            </a:pPr>
            <a:r>
              <a:rPr dirty="0" sz="2000" spc="-10" b="1">
                <a:solidFill>
                  <a:srgbClr val="404040"/>
                </a:solidFill>
                <a:latin typeface="Arial"/>
                <a:cs typeface="Arial"/>
              </a:rPr>
              <a:t>References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dirty="0" spc="-85"/>
              <a:t> </a:t>
            </a:r>
            <a:r>
              <a:rPr dirty="0" spc="-6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663064" y="1581636"/>
            <a:ext cx="7558405" cy="1259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95"/>
              </a:spcBef>
            </a:pP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Students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educators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lack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lightweight,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interactive</a:t>
            </a:r>
            <a:r>
              <a:rPr dirty="0" sz="18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quiz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tools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for</a:t>
            </a:r>
            <a:r>
              <a:rPr dirty="0" sz="1800" spc="-7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practice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and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testing.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This</a:t>
            </a:r>
            <a:r>
              <a:rPr dirty="0" sz="18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project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features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quiz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app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with</a:t>
            </a:r>
            <a:r>
              <a:rPr dirty="0" sz="18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multiple-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choice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questions,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timers,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instant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scoring.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It</a:t>
            </a:r>
            <a:r>
              <a:rPr dirty="0" sz="18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supports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learning</a:t>
            </a:r>
            <a:r>
              <a:rPr dirty="0" sz="18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through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immediate</a:t>
            </a:r>
            <a:r>
              <a:rPr dirty="0" sz="18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feedback.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9993" y="497281"/>
            <a:ext cx="52781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835" algn="l"/>
              </a:tabLst>
            </a:pPr>
            <a:r>
              <a:rPr dirty="0" spc="-10"/>
              <a:t>SYSTEM</a:t>
            </a:r>
            <a:r>
              <a:rPr dirty="0"/>
              <a:t>	</a:t>
            </a:r>
            <a:r>
              <a:rPr dirty="0" spc="-10"/>
              <a:t>APPROACH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9993" y="1617726"/>
            <a:ext cx="9693910" cy="368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100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dirty="0" sz="24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Front-</a:t>
            </a:r>
            <a:r>
              <a:rPr dirty="0" sz="2400">
                <a:solidFill>
                  <a:srgbClr val="404040"/>
                </a:solidFill>
                <a:latin typeface="Franklin Gothic Medium"/>
                <a:cs typeface="Franklin Gothic Medium"/>
              </a:rPr>
              <a:t>End</a:t>
            </a:r>
            <a:r>
              <a:rPr dirty="0" sz="24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Technologies:</a:t>
            </a:r>
            <a:endParaRPr sz="24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1295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641985" algn="l"/>
              </a:tabLst>
            </a:pP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HTML5:</a:t>
            </a:r>
            <a:r>
              <a:rPr dirty="0" sz="1800" spc="-9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For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structuring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content</a:t>
            </a:r>
            <a:r>
              <a:rPr dirty="0" sz="18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8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layout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of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quiz.</a:t>
            </a:r>
            <a:endParaRPr sz="18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1035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641985" algn="l"/>
              </a:tabLst>
            </a:pP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CSS3:</a:t>
            </a:r>
            <a:r>
              <a:rPr dirty="0" sz="1800" spc="-9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For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styling,</a:t>
            </a:r>
            <a:r>
              <a:rPr dirty="0" sz="18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enhancing</a:t>
            </a:r>
            <a:r>
              <a:rPr dirty="0" sz="18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user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interface,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making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application</a:t>
            </a:r>
            <a:r>
              <a:rPr dirty="0" sz="18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responsive.</a:t>
            </a:r>
            <a:endParaRPr sz="1800">
              <a:latin typeface="Franklin Gothic Medium"/>
              <a:cs typeface="Franklin Gothic Medium"/>
            </a:endParaRPr>
          </a:p>
          <a:p>
            <a:pPr lvl="1" marL="641985" marR="5080" indent="-305435">
              <a:lnSpc>
                <a:spcPct val="100000"/>
              </a:lnSpc>
              <a:spcBef>
                <a:spcPts val="1030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641985" algn="l"/>
              </a:tabLst>
            </a:pP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JavaScript</a:t>
            </a:r>
            <a:r>
              <a:rPr dirty="0" sz="1800" spc="-8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(Vanilla</a:t>
            </a:r>
            <a:r>
              <a:rPr dirty="0" sz="1800" spc="-7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JS):</a:t>
            </a:r>
            <a:r>
              <a:rPr dirty="0" sz="1800" spc="-8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For</a:t>
            </a:r>
            <a:r>
              <a:rPr dirty="0" sz="18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implementing</a:t>
            </a:r>
            <a:r>
              <a:rPr dirty="0" sz="18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interactive</a:t>
            </a:r>
            <a:r>
              <a:rPr dirty="0" sz="18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features</a:t>
            </a:r>
            <a:r>
              <a:rPr dirty="0" sz="18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such</a:t>
            </a:r>
            <a:r>
              <a:rPr dirty="0" sz="18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as</a:t>
            </a:r>
            <a:r>
              <a:rPr dirty="0" sz="18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timers,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instant</a:t>
            </a:r>
            <a:r>
              <a:rPr dirty="0" sz="18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feedback,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scoring,</a:t>
            </a:r>
            <a:r>
              <a:rPr dirty="0" sz="18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navigation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between</a:t>
            </a:r>
            <a:r>
              <a:rPr dirty="0" sz="1800" spc="-7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questions.</a:t>
            </a:r>
            <a:endParaRPr sz="1800">
              <a:latin typeface="Franklin Gothic Medium"/>
              <a:cs typeface="Franklin Gothic Medium"/>
            </a:endParaRPr>
          </a:p>
          <a:p>
            <a:pPr marL="318770" indent="-306070">
              <a:lnSpc>
                <a:spcPct val="100000"/>
              </a:lnSpc>
              <a:spcBef>
                <a:spcPts val="1200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dirty="0" sz="24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Advantages</a:t>
            </a:r>
            <a:r>
              <a:rPr dirty="0" sz="2400" spc="-10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404040"/>
                </a:solidFill>
                <a:latin typeface="Franklin Gothic Medium"/>
                <a:cs typeface="Franklin Gothic Medium"/>
              </a:rPr>
              <a:t>of</a:t>
            </a:r>
            <a:r>
              <a:rPr dirty="0" sz="24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2400" spc="-8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404040"/>
                </a:solidFill>
                <a:latin typeface="Franklin Gothic Medium"/>
                <a:cs typeface="Franklin Gothic Medium"/>
              </a:rPr>
              <a:t>Chosen</a:t>
            </a:r>
            <a:r>
              <a:rPr dirty="0" sz="2400" spc="-9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Approach:</a:t>
            </a:r>
            <a:endParaRPr sz="24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1300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641985" algn="l"/>
              </a:tabLst>
            </a:pPr>
            <a:r>
              <a:rPr dirty="0" sz="18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Lightweight</a:t>
            </a:r>
            <a:r>
              <a:rPr dirty="0" sz="1800" spc="-1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browser-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friendly</a:t>
            </a:r>
            <a:r>
              <a:rPr dirty="0" sz="18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(no</a:t>
            </a:r>
            <a:r>
              <a:rPr dirty="0" sz="18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server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required).</a:t>
            </a:r>
            <a:endParaRPr sz="18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1030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641985" algn="l"/>
              </a:tabLst>
            </a:pPr>
            <a:r>
              <a:rPr dirty="0" sz="18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Real-</a:t>
            </a:r>
            <a:r>
              <a:rPr dirty="0" sz="18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time </a:t>
            </a:r>
            <a:r>
              <a:rPr dirty="0" sz="18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interactivity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with</a:t>
            </a:r>
            <a:r>
              <a:rPr dirty="0" sz="18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instant</a:t>
            </a:r>
            <a:r>
              <a:rPr dirty="0" sz="18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feedback.</a:t>
            </a:r>
            <a:endParaRPr sz="18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1030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641985" algn="l"/>
              </a:tabLst>
            </a:pP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Easy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to</a:t>
            </a:r>
            <a:r>
              <a:rPr dirty="0" sz="1800" spc="-7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extend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customize.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ALGORITHM</a:t>
            </a:r>
            <a:r>
              <a:rPr dirty="0" spc="-100"/>
              <a:t> </a:t>
            </a:r>
            <a:r>
              <a:rPr dirty="0"/>
              <a:t>&amp;</a:t>
            </a:r>
            <a:r>
              <a:rPr dirty="0" spc="-114"/>
              <a:t> </a:t>
            </a:r>
            <a:r>
              <a:rPr dirty="0" spc="-10"/>
              <a:t>DEPLOYMENT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9993" y="1481454"/>
            <a:ext cx="4964430" cy="3958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95"/>
              </a:spcBef>
              <a:buClr>
                <a:srgbClr val="1CACE3"/>
              </a:buClr>
              <a:buSzPct val="92105"/>
              <a:buFont typeface="Cambria"/>
              <a:buChar char="◾"/>
              <a:tabLst>
                <a:tab pos="318770" algn="l"/>
              </a:tabLst>
            </a:pPr>
            <a:r>
              <a:rPr dirty="0" sz="19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Algorithm:</a:t>
            </a:r>
            <a:endParaRPr sz="19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1135"/>
              </a:spcBef>
              <a:buClr>
                <a:srgbClr val="1CACE3"/>
              </a:buClr>
              <a:buSzPct val="89285"/>
              <a:buFont typeface="Cambria"/>
              <a:buChar char="◾"/>
              <a:tabLst>
                <a:tab pos="641985" algn="l"/>
              </a:tabLst>
            </a:pPr>
            <a:r>
              <a:rPr dirty="0" sz="14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Initialize</a:t>
            </a:r>
            <a:r>
              <a:rPr dirty="0" sz="14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quiz</a:t>
            </a:r>
            <a:r>
              <a:rPr dirty="0" sz="14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data</a:t>
            </a:r>
            <a:r>
              <a:rPr dirty="0" sz="14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(questions,</a:t>
            </a:r>
            <a:r>
              <a:rPr dirty="0" sz="14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options,</a:t>
            </a:r>
            <a:r>
              <a:rPr dirty="0" sz="14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correct</a:t>
            </a:r>
            <a:r>
              <a:rPr dirty="0" sz="1400" spc="-7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answers).</a:t>
            </a:r>
            <a:endParaRPr sz="14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935"/>
              </a:spcBef>
              <a:buClr>
                <a:srgbClr val="1CACE3"/>
              </a:buClr>
              <a:buSzPct val="89285"/>
              <a:buFont typeface="Cambria"/>
              <a:buChar char="◾"/>
              <a:tabLst>
                <a:tab pos="641985" algn="l"/>
              </a:tabLst>
            </a:pPr>
            <a:r>
              <a:rPr dirty="0" sz="14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Display</a:t>
            </a:r>
            <a:r>
              <a:rPr dirty="0" sz="14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4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first</a:t>
            </a:r>
            <a:r>
              <a:rPr dirty="0" sz="14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question</a:t>
            </a:r>
            <a:r>
              <a:rPr dirty="0" sz="14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with</a:t>
            </a:r>
            <a:r>
              <a:rPr dirty="0" sz="14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multiple-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choice</a:t>
            </a:r>
            <a:r>
              <a:rPr dirty="0" sz="14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options.</a:t>
            </a:r>
            <a:endParaRPr sz="14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940"/>
              </a:spcBef>
              <a:buClr>
                <a:srgbClr val="1CACE3"/>
              </a:buClr>
              <a:buSzPct val="89285"/>
              <a:buFont typeface="Cambria"/>
              <a:buChar char="◾"/>
              <a:tabLst>
                <a:tab pos="641985" algn="l"/>
              </a:tabLst>
            </a:pP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Start</a:t>
            </a:r>
            <a:r>
              <a:rPr dirty="0" sz="1400" spc="-7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a</a:t>
            </a:r>
            <a:r>
              <a:rPr dirty="0" sz="14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countdown</a:t>
            </a:r>
            <a:r>
              <a:rPr dirty="0" sz="14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timer</a:t>
            </a:r>
            <a:r>
              <a:rPr dirty="0" sz="14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for</a:t>
            </a:r>
            <a:r>
              <a:rPr dirty="0" sz="14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4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quiz</a:t>
            </a:r>
            <a:r>
              <a:rPr dirty="0" sz="14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session.</a:t>
            </a:r>
            <a:endParaRPr sz="14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935"/>
              </a:spcBef>
              <a:buClr>
                <a:srgbClr val="1CACE3"/>
              </a:buClr>
              <a:buSzPct val="89285"/>
              <a:buFont typeface="Cambria"/>
              <a:buChar char="◾"/>
              <a:tabLst>
                <a:tab pos="641985" algn="l"/>
              </a:tabLst>
            </a:pPr>
            <a:r>
              <a:rPr dirty="0" sz="14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Wait</a:t>
            </a:r>
            <a:r>
              <a:rPr dirty="0" sz="14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for</a:t>
            </a:r>
            <a:r>
              <a:rPr dirty="0" sz="14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400" spc="-7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user</a:t>
            </a:r>
            <a:r>
              <a:rPr dirty="0" sz="14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to</a:t>
            </a:r>
            <a:r>
              <a:rPr dirty="0" sz="14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select</a:t>
            </a:r>
            <a:r>
              <a:rPr dirty="0" sz="14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an</a:t>
            </a:r>
            <a:r>
              <a:rPr dirty="0" sz="14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answer.</a:t>
            </a:r>
            <a:endParaRPr sz="14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935"/>
              </a:spcBef>
              <a:buClr>
                <a:srgbClr val="1CACE3"/>
              </a:buClr>
              <a:buSzPct val="89285"/>
              <a:buFont typeface="Cambria"/>
              <a:buChar char="◾"/>
              <a:tabLst>
                <a:tab pos="641985" algn="l"/>
              </a:tabLst>
            </a:pP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On</a:t>
            </a:r>
            <a:r>
              <a:rPr dirty="0" sz="1400" spc="-1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selection,</a:t>
            </a:r>
            <a:r>
              <a:rPr dirty="0" sz="14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provide</a:t>
            </a:r>
            <a:r>
              <a:rPr dirty="0" sz="14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instant</a:t>
            </a:r>
            <a:r>
              <a:rPr dirty="0" sz="14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feedback</a:t>
            </a:r>
            <a:r>
              <a:rPr dirty="0" sz="1400" spc="-1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(correct/wrong).</a:t>
            </a:r>
            <a:endParaRPr sz="14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940"/>
              </a:spcBef>
              <a:buClr>
                <a:srgbClr val="1CACE3"/>
              </a:buClr>
              <a:buSzPct val="89285"/>
              <a:buFont typeface="Cambria"/>
              <a:buChar char="◾"/>
              <a:tabLst>
                <a:tab pos="641985" algn="l"/>
              </a:tabLst>
            </a:pP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Enable</a:t>
            </a:r>
            <a:r>
              <a:rPr dirty="0" sz="14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4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“Next”</a:t>
            </a:r>
            <a:r>
              <a:rPr dirty="0" sz="14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button</a:t>
            </a:r>
            <a:r>
              <a:rPr dirty="0" sz="14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only</a:t>
            </a:r>
            <a:r>
              <a:rPr dirty="0" sz="14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after</a:t>
            </a:r>
            <a:r>
              <a:rPr dirty="0" sz="14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an</a:t>
            </a:r>
            <a:r>
              <a:rPr dirty="0" sz="14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answer</a:t>
            </a:r>
            <a:r>
              <a:rPr dirty="0" sz="14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is</a:t>
            </a:r>
            <a:r>
              <a:rPr dirty="0" sz="14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selected.</a:t>
            </a:r>
            <a:endParaRPr sz="14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935"/>
              </a:spcBef>
              <a:buClr>
                <a:srgbClr val="1CACE3"/>
              </a:buClr>
              <a:buSzPct val="89285"/>
              <a:buFont typeface="Cambria"/>
              <a:buChar char="◾"/>
              <a:tabLst>
                <a:tab pos="641985" algn="l"/>
              </a:tabLst>
            </a:pPr>
            <a:r>
              <a:rPr dirty="0" sz="14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Repeat</a:t>
            </a:r>
            <a:r>
              <a:rPr dirty="0" sz="14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steps</a:t>
            </a:r>
            <a:r>
              <a:rPr dirty="0" sz="14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2–6</a:t>
            </a:r>
            <a:r>
              <a:rPr dirty="0" sz="14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for</a:t>
            </a:r>
            <a:r>
              <a:rPr dirty="0" sz="14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all</a:t>
            </a:r>
            <a:r>
              <a:rPr dirty="0" sz="14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questions.</a:t>
            </a:r>
            <a:endParaRPr sz="14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935"/>
              </a:spcBef>
              <a:buClr>
                <a:srgbClr val="1CACE3"/>
              </a:buClr>
              <a:buSzPct val="89285"/>
              <a:buFont typeface="Cambria"/>
              <a:buChar char="◾"/>
              <a:tabLst>
                <a:tab pos="641985" algn="l"/>
              </a:tabLst>
            </a:pPr>
            <a:r>
              <a:rPr dirty="0" sz="14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After</a:t>
            </a:r>
            <a:r>
              <a:rPr dirty="0" sz="14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4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last</a:t>
            </a:r>
            <a:r>
              <a:rPr dirty="0" sz="14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question</a:t>
            </a:r>
            <a:r>
              <a:rPr dirty="0" sz="14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or</a:t>
            </a:r>
            <a:r>
              <a:rPr dirty="0" sz="14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when</a:t>
            </a:r>
            <a:r>
              <a:rPr dirty="0" sz="14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4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timer</a:t>
            </a:r>
            <a:r>
              <a:rPr dirty="0" sz="14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ends:</a:t>
            </a:r>
            <a:endParaRPr sz="1400">
              <a:latin typeface="Franklin Gothic Medium"/>
              <a:cs typeface="Franklin Gothic Medium"/>
            </a:endParaRPr>
          </a:p>
          <a:p>
            <a:pPr lvl="2" marL="911225" indent="-269240">
              <a:lnSpc>
                <a:spcPct val="100000"/>
              </a:lnSpc>
              <a:spcBef>
                <a:spcPts val="919"/>
              </a:spcBef>
              <a:buClr>
                <a:srgbClr val="1CACE3"/>
              </a:buClr>
              <a:buSzPct val="92307"/>
              <a:buFont typeface="Cambria"/>
              <a:buChar char="◾"/>
              <a:tabLst>
                <a:tab pos="911225" algn="l"/>
              </a:tabLst>
            </a:pPr>
            <a:r>
              <a:rPr dirty="0" sz="13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Calculate</a:t>
            </a:r>
            <a:r>
              <a:rPr dirty="0" sz="13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3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3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3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total</a:t>
            </a:r>
            <a:r>
              <a:rPr dirty="0" sz="13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3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score.</a:t>
            </a:r>
            <a:endParaRPr sz="1300">
              <a:latin typeface="Franklin Gothic Medium"/>
              <a:cs typeface="Franklin Gothic Medium"/>
            </a:endParaRPr>
          </a:p>
          <a:p>
            <a:pPr lvl="2" marL="911225" indent="-269240">
              <a:lnSpc>
                <a:spcPct val="100000"/>
              </a:lnSpc>
              <a:spcBef>
                <a:spcPts val="910"/>
              </a:spcBef>
              <a:buClr>
                <a:srgbClr val="1CACE3"/>
              </a:buClr>
              <a:buSzPct val="92307"/>
              <a:buFont typeface="Cambria"/>
              <a:buChar char="◾"/>
              <a:tabLst>
                <a:tab pos="911225" algn="l"/>
              </a:tabLst>
            </a:pPr>
            <a:r>
              <a:rPr dirty="0" sz="13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Display</a:t>
            </a:r>
            <a:r>
              <a:rPr dirty="0" sz="13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3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3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300">
                <a:solidFill>
                  <a:srgbClr val="404040"/>
                </a:solidFill>
                <a:latin typeface="Franklin Gothic Medium"/>
                <a:cs typeface="Franklin Gothic Medium"/>
              </a:rPr>
              <a:t>result</a:t>
            </a:r>
            <a:r>
              <a:rPr dirty="0" sz="13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3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3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3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feedback.</a:t>
            </a:r>
            <a:endParaRPr sz="1300">
              <a:latin typeface="Franklin Gothic Medium"/>
              <a:cs typeface="Franklin Gothic Medium"/>
            </a:endParaRPr>
          </a:p>
          <a:p>
            <a:pPr lvl="1" marL="641985" indent="-304800">
              <a:lnSpc>
                <a:spcPct val="100000"/>
              </a:lnSpc>
              <a:spcBef>
                <a:spcPts val="935"/>
              </a:spcBef>
              <a:buClr>
                <a:srgbClr val="1CACE3"/>
              </a:buClr>
              <a:buSzPct val="89285"/>
              <a:buFont typeface="Cambria"/>
              <a:buChar char="◾"/>
              <a:tabLst>
                <a:tab pos="641985" algn="l"/>
              </a:tabLst>
            </a:pPr>
            <a:r>
              <a:rPr dirty="0" sz="14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Allow</a:t>
            </a:r>
            <a:r>
              <a:rPr dirty="0" sz="14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4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user</a:t>
            </a:r>
            <a:r>
              <a:rPr dirty="0" sz="14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to</a:t>
            </a:r>
            <a:r>
              <a:rPr dirty="0" sz="14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restart</a:t>
            </a:r>
            <a:r>
              <a:rPr dirty="0" sz="1400" spc="-7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4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quiz.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ALGORITHM</a:t>
            </a:r>
            <a:r>
              <a:rPr dirty="0" spc="-100"/>
              <a:t> </a:t>
            </a:r>
            <a:r>
              <a:rPr dirty="0"/>
              <a:t>&amp;</a:t>
            </a:r>
            <a:r>
              <a:rPr dirty="0" spc="-114"/>
              <a:t> </a:t>
            </a:r>
            <a:r>
              <a:rPr dirty="0" spc="-10"/>
              <a:t>DEPLOYMENT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9993" y="1732026"/>
            <a:ext cx="8973820" cy="3463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100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dirty="0" sz="24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Deployment</a:t>
            </a:r>
            <a:r>
              <a:rPr dirty="0" sz="24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Procedure:</a:t>
            </a:r>
            <a:endParaRPr sz="2400">
              <a:latin typeface="Franklin Gothic Medium"/>
              <a:cs typeface="Franklin Gothic Medium"/>
            </a:endParaRPr>
          </a:p>
          <a:p>
            <a:pPr marL="318770" indent="-306070">
              <a:lnSpc>
                <a:spcPct val="100000"/>
              </a:lnSpc>
              <a:spcBef>
                <a:spcPts val="1330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Create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</a:t>
            </a:r>
            <a:r>
              <a:rPr dirty="0" sz="18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folder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structure:</a:t>
            </a:r>
            <a:endParaRPr sz="1800">
              <a:latin typeface="Franklin Gothic Medium"/>
              <a:cs typeface="Franklin Gothic Medium"/>
            </a:endParaRPr>
          </a:p>
          <a:p>
            <a:pPr marL="2507615">
              <a:lnSpc>
                <a:spcPct val="100000"/>
              </a:lnSpc>
              <a:spcBef>
                <a:spcPts val="790"/>
              </a:spcBef>
            </a:pPr>
            <a:r>
              <a:rPr dirty="0" sz="1600" spc="-10">
                <a:latin typeface="Arial MT"/>
                <a:cs typeface="Arial MT"/>
              </a:rPr>
              <a:t>OnlineQuiz/</a:t>
            </a:r>
            <a:endParaRPr sz="1600">
              <a:latin typeface="Arial MT"/>
              <a:cs typeface="Arial MT"/>
            </a:endParaRPr>
          </a:p>
          <a:p>
            <a:pPr marL="3135630" marR="4906010">
              <a:lnSpc>
                <a:spcPct val="100000"/>
              </a:lnSpc>
            </a:pPr>
            <a:r>
              <a:rPr dirty="0" sz="1600" spc="-10">
                <a:latin typeface="Arial MT"/>
                <a:cs typeface="Arial MT"/>
              </a:rPr>
              <a:t>index.html style.css script.js</a:t>
            </a:r>
            <a:endParaRPr sz="1600">
              <a:latin typeface="Arial MT"/>
              <a:cs typeface="Arial MT"/>
            </a:endParaRPr>
          </a:p>
          <a:p>
            <a:pPr marL="318770" indent="-306070">
              <a:lnSpc>
                <a:spcPct val="100000"/>
              </a:lnSpc>
              <a:spcBef>
                <a:spcPts val="430"/>
              </a:spcBef>
              <a:buClr>
                <a:srgbClr val="1CACE3"/>
              </a:buClr>
              <a:buSzPct val="91176"/>
              <a:buFont typeface="Cambria"/>
              <a:buChar char="◾"/>
              <a:tabLst>
                <a:tab pos="318770" algn="l"/>
              </a:tabLst>
            </a:pPr>
            <a:r>
              <a:rPr dirty="0" sz="17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Write</a:t>
            </a:r>
            <a:r>
              <a:rPr dirty="0" sz="17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7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HTML,</a:t>
            </a:r>
            <a:r>
              <a:rPr dirty="0" sz="17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CSS,</a:t>
            </a:r>
            <a:r>
              <a:rPr dirty="0" sz="17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7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 JavaScript</a:t>
            </a:r>
            <a:r>
              <a:rPr dirty="0" sz="17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code</a:t>
            </a:r>
            <a:r>
              <a:rPr dirty="0" sz="1700" spc="-1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as</a:t>
            </a:r>
            <a:r>
              <a:rPr dirty="0" sz="17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per</a:t>
            </a:r>
            <a:r>
              <a:rPr dirty="0" sz="1700" spc="-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7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application</a:t>
            </a:r>
            <a:r>
              <a:rPr dirty="0" sz="17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design.</a:t>
            </a:r>
            <a:endParaRPr sz="1700">
              <a:latin typeface="Franklin Gothic Medium"/>
              <a:cs typeface="Franklin Gothic Medium"/>
            </a:endParaRPr>
          </a:p>
          <a:p>
            <a:pPr marL="318770" indent="-306070">
              <a:lnSpc>
                <a:spcPct val="100000"/>
              </a:lnSpc>
              <a:spcBef>
                <a:spcPts val="1210"/>
              </a:spcBef>
              <a:buClr>
                <a:srgbClr val="1CACE3"/>
              </a:buClr>
              <a:buSzPct val="91176"/>
              <a:buFont typeface="Cambria"/>
              <a:buChar char="◾"/>
              <a:tabLst>
                <a:tab pos="318770" algn="l"/>
              </a:tabLst>
            </a:pP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Open</a:t>
            </a:r>
            <a:r>
              <a:rPr dirty="0" sz="17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index.html</a:t>
            </a:r>
            <a:r>
              <a:rPr dirty="0" sz="1700" spc="-8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in</a:t>
            </a:r>
            <a:r>
              <a:rPr dirty="0" sz="17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any</a:t>
            </a:r>
            <a:r>
              <a:rPr dirty="0" sz="17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modern</a:t>
            </a:r>
            <a:r>
              <a:rPr dirty="0" sz="17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web</a:t>
            </a:r>
            <a:r>
              <a:rPr dirty="0" sz="17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browser</a:t>
            </a:r>
            <a:r>
              <a:rPr dirty="0" sz="17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(Chrome,</a:t>
            </a:r>
            <a:r>
              <a:rPr dirty="0" sz="17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Firefox,</a:t>
            </a:r>
            <a:r>
              <a:rPr dirty="0" sz="17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Edge).</a:t>
            </a:r>
            <a:endParaRPr sz="1700">
              <a:latin typeface="Franklin Gothic Medium"/>
              <a:cs typeface="Franklin Gothic Medium"/>
            </a:endParaRPr>
          </a:p>
          <a:p>
            <a:pPr marL="318770" indent="-306070">
              <a:lnSpc>
                <a:spcPct val="100000"/>
              </a:lnSpc>
              <a:spcBef>
                <a:spcPts val="1215"/>
              </a:spcBef>
              <a:buClr>
                <a:srgbClr val="1CACE3"/>
              </a:buClr>
              <a:buSzPct val="91176"/>
              <a:buFont typeface="Cambria"/>
              <a:buChar char="◾"/>
              <a:tabLst>
                <a:tab pos="318770" algn="l"/>
              </a:tabLst>
            </a:pPr>
            <a:r>
              <a:rPr dirty="0" sz="17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Test</a:t>
            </a:r>
            <a:r>
              <a:rPr dirty="0" sz="17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all</a:t>
            </a:r>
            <a:r>
              <a:rPr dirty="0" sz="17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functionalities:</a:t>
            </a:r>
            <a:r>
              <a:rPr dirty="0" sz="1700" spc="-7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question</a:t>
            </a:r>
            <a:r>
              <a:rPr dirty="0" sz="17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display,</a:t>
            </a:r>
            <a:r>
              <a:rPr dirty="0" sz="1700" spc="-7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timer,</a:t>
            </a:r>
            <a:r>
              <a:rPr dirty="0" sz="17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answer</a:t>
            </a:r>
            <a:r>
              <a:rPr dirty="0" sz="17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selection,</a:t>
            </a:r>
            <a:r>
              <a:rPr dirty="0" sz="17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feedback,</a:t>
            </a:r>
            <a:r>
              <a:rPr dirty="0" sz="17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scoring,</a:t>
            </a:r>
            <a:r>
              <a:rPr dirty="0" sz="17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7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restart.</a:t>
            </a:r>
            <a:endParaRPr sz="1700">
              <a:latin typeface="Franklin Gothic Medium"/>
              <a:cs typeface="Franklin Gothic Medium"/>
            </a:endParaRPr>
          </a:p>
          <a:p>
            <a:pPr marL="318770" indent="-306070">
              <a:lnSpc>
                <a:spcPct val="100000"/>
              </a:lnSpc>
              <a:spcBef>
                <a:spcPts val="1210"/>
              </a:spcBef>
              <a:buClr>
                <a:srgbClr val="1CACE3"/>
              </a:buClr>
              <a:buSzPct val="91176"/>
              <a:buFont typeface="Cambria"/>
              <a:buChar char="◾"/>
              <a:tabLst>
                <a:tab pos="318770" algn="l"/>
              </a:tabLst>
            </a:pPr>
            <a:r>
              <a:rPr dirty="0" sz="17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(Optional)</a:t>
            </a:r>
            <a:r>
              <a:rPr dirty="0" sz="17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Host</a:t>
            </a:r>
            <a:r>
              <a:rPr dirty="0" sz="17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on</a:t>
            </a:r>
            <a:r>
              <a:rPr dirty="0" sz="17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a</a:t>
            </a:r>
            <a:r>
              <a:rPr dirty="0" sz="17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platform</a:t>
            </a:r>
            <a:r>
              <a:rPr dirty="0" sz="17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like</a:t>
            </a:r>
            <a:r>
              <a:rPr dirty="0" sz="17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GitHub</a:t>
            </a:r>
            <a:r>
              <a:rPr dirty="0" sz="1700" spc="-7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Pages</a:t>
            </a:r>
            <a:r>
              <a:rPr dirty="0" sz="17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>
                <a:solidFill>
                  <a:srgbClr val="404040"/>
                </a:solidFill>
                <a:latin typeface="Franklin Gothic Medium"/>
                <a:cs typeface="Franklin Gothic Medium"/>
              </a:rPr>
              <a:t>for</a:t>
            </a:r>
            <a:r>
              <a:rPr dirty="0" sz="17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online</a:t>
            </a:r>
            <a:r>
              <a:rPr dirty="0" sz="17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access.</a:t>
            </a:r>
            <a:endParaRPr sz="17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/>
              <a:t>RESULT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6647" y="1301750"/>
            <a:ext cx="9153779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/>
              <a:t>RESULT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370" y="1301750"/>
            <a:ext cx="9035796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/>
              <a:t>RESULT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212" y="1321409"/>
            <a:ext cx="9094851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/>
              <a:t>RESULT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72" y="1301750"/>
            <a:ext cx="9592183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/>
              <a:t>RESULT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9055" y="1341081"/>
            <a:ext cx="8766937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9993" y="736854"/>
            <a:ext cx="5041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90" b="1">
                <a:solidFill>
                  <a:srgbClr val="404040"/>
                </a:solidFill>
                <a:latin typeface="Trebuchet MS"/>
                <a:cs typeface="Trebuchet MS"/>
              </a:rPr>
              <a:t>GITHUB</a:t>
            </a:r>
            <a:r>
              <a:rPr dirty="0" sz="2800" spc="-10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2800" spc="-45" b="1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2800" spc="-12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2800" spc="-95" b="1">
                <a:solidFill>
                  <a:srgbClr val="404040"/>
                </a:solidFill>
                <a:latin typeface="Trebuchet MS"/>
                <a:cs typeface="Trebuchet MS"/>
              </a:rPr>
              <a:t>DEPLOYMNET</a:t>
            </a:r>
            <a:r>
              <a:rPr dirty="0" sz="2800" spc="-8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2800" spc="-20" b="1">
                <a:solidFill>
                  <a:srgbClr val="404040"/>
                </a:solidFill>
                <a:latin typeface="Trebuchet MS"/>
                <a:cs typeface="Trebuchet MS"/>
              </a:rPr>
              <a:t>LINK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59993" y="2886608"/>
            <a:ext cx="9775190" cy="1287780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705"/>
              </a:spcBef>
              <a:buClr>
                <a:srgbClr val="1CACE3"/>
              </a:buClr>
              <a:buSzPct val="91071"/>
              <a:buFont typeface="Cambria"/>
              <a:buChar char="◾"/>
              <a:tabLst>
                <a:tab pos="316865" algn="l"/>
              </a:tabLst>
            </a:pPr>
            <a:r>
              <a:rPr dirty="0" sz="2800">
                <a:solidFill>
                  <a:srgbClr val="404040"/>
                </a:solidFill>
                <a:latin typeface="Franklin Gothic Medium"/>
                <a:cs typeface="Franklin Gothic Medium"/>
              </a:rPr>
              <a:t>Github</a:t>
            </a:r>
            <a:r>
              <a:rPr dirty="0" sz="2800" spc="-114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404040"/>
                </a:solidFill>
                <a:latin typeface="Franklin Gothic Medium"/>
                <a:cs typeface="Franklin Gothic Medium"/>
              </a:rPr>
              <a:t>Link</a:t>
            </a:r>
            <a:r>
              <a:rPr dirty="0" sz="2800" spc="-9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404040"/>
                </a:solidFill>
                <a:latin typeface="Franklin Gothic Medium"/>
                <a:cs typeface="Franklin Gothic Medium"/>
              </a:rPr>
              <a:t>:</a:t>
            </a:r>
            <a:r>
              <a:rPr dirty="0" sz="2800" spc="-8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https://github.com/mouli4401</a:t>
            </a:r>
            <a:endParaRPr sz="2800">
              <a:latin typeface="Franklin Gothic Medium"/>
              <a:cs typeface="Franklin Gothic Medium"/>
            </a:endParaRPr>
          </a:p>
          <a:p>
            <a:pPr marL="316865" indent="-304165">
              <a:lnSpc>
                <a:spcPct val="100000"/>
              </a:lnSpc>
              <a:spcBef>
                <a:spcPts val="1610"/>
              </a:spcBef>
              <a:buClr>
                <a:srgbClr val="1CACE3"/>
              </a:buClr>
              <a:buSzPct val="91071"/>
              <a:buFont typeface="Cambria"/>
              <a:buChar char="◾"/>
              <a:tabLst>
                <a:tab pos="316865" algn="l"/>
              </a:tabLst>
            </a:pPr>
            <a:r>
              <a:rPr dirty="0" sz="28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Deployment</a:t>
            </a:r>
            <a:r>
              <a:rPr dirty="0" sz="2800" spc="-13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404040"/>
                </a:solidFill>
                <a:latin typeface="Franklin Gothic Medium"/>
                <a:cs typeface="Franklin Gothic Medium"/>
              </a:rPr>
              <a:t>link:</a:t>
            </a:r>
            <a:r>
              <a:rPr dirty="0" sz="2800" spc="-1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https://mouli4401.github.io/OnlineQuizFWD/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46175" y="1440688"/>
            <a:ext cx="978979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5080">
              <a:lnSpc>
                <a:spcPct val="150000"/>
              </a:lnSpc>
              <a:spcBef>
                <a:spcPts val="100"/>
              </a:spcBef>
              <a:buSzPct val="94444"/>
              <a:buChar char="•"/>
              <a:tabLst>
                <a:tab pos="164465" algn="l"/>
              </a:tabLst>
            </a:pP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	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The</a:t>
            </a:r>
            <a:r>
              <a:rPr dirty="0" sz="18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Online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Quiz</a:t>
            </a:r>
            <a:r>
              <a:rPr dirty="0" sz="18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Application</a:t>
            </a:r>
            <a:r>
              <a:rPr dirty="0" sz="18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successfully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provides</a:t>
            </a:r>
            <a:r>
              <a:rPr dirty="0" sz="18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an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interactive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8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 lightweight</a:t>
            </a:r>
            <a:r>
              <a:rPr dirty="0" sz="18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35">
                <a:solidFill>
                  <a:srgbClr val="404040"/>
                </a:solidFill>
                <a:latin typeface="Franklin Gothic Medium"/>
                <a:cs typeface="Franklin Gothic Medium"/>
              </a:rPr>
              <a:t>platform</a:t>
            </a:r>
            <a:r>
              <a:rPr dirty="0" sz="18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for</a:t>
            </a:r>
            <a:r>
              <a:rPr dirty="0" sz="18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learning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assessment.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It</a:t>
            </a:r>
            <a:r>
              <a:rPr dirty="0" sz="1800" spc="-7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allows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students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to</a:t>
            </a:r>
            <a:r>
              <a:rPr dirty="0" sz="18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practice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40">
                <a:solidFill>
                  <a:srgbClr val="404040"/>
                </a:solidFill>
                <a:latin typeface="Franklin Gothic Medium"/>
                <a:cs typeface="Franklin Gothic Medium"/>
              </a:rPr>
              <a:t>multiple-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choice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questions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with</a:t>
            </a:r>
            <a:r>
              <a:rPr dirty="0" sz="18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instant</a:t>
            </a:r>
            <a:r>
              <a:rPr dirty="0" sz="1800" spc="-6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feedback</a:t>
            </a:r>
            <a:r>
              <a:rPr dirty="0" sz="1800" spc="-7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and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scoring.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This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approach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enhances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learning</a:t>
            </a:r>
            <a:r>
              <a:rPr dirty="0" sz="1800" spc="-5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efficiency</a:t>
            </a:r>
            <a:r>
              <a:rPr dirty="0" sz="1800" spc="-6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by</a:t>
            </a:r>
            <a:r>
              <a:rPr dirty="0" sz="1800" spc="-7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Franklin Gothic Medium"/>
                <a:cs typeface="Franklin Gothic Medium"/>
              </a:rPr>
              <a:t>giving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45">
                <a:solidFill>
                  <a:srgbClr val="404040"/>
                </a:solidFill>
                <a:latin typeface="Franklin Gothic Medium"/>
                <a:cs typeface="Franklin Gothic Medium"/>
              </a:rPr>
              <a:t>immediate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results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404040"/>
                </a:solidFill>
                <a:latin typeface="Franklin Gothic Medium"/>
                <a:cs typeface="Franklin Gothic Medium"/>
              </a:rPr>
              <a:t>and</a:t>
            </a:r>
            <a:r>
              <a:rPr dirty="0" sz="1800" spc="-55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30">
                <a:solidFill>
                  <a:srgbClr val="404040"/>
                </a:solidFill>
                <a:latin typeface="Franklin Gothic Medium"/>
                <a:cs typeface="Franklin Gothic Medium"/>
              </a:rPr>
              <a:t>motivation</a:t>
            </a:r>
            <a:r>
              <a:rPr dirty="0" sz="1800" spc="-70">
                <a:solidFill>
                  <a:srgbClr val="40404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Franklin Gothic Medium"/>
                <a:cs typeface="Franklin Gothic Medium"/>
              </a:rPr>
              <a:t>to </a:t>
            </a:r>
            <a:r>
              <a:rPr dirty="0" sz="1800" spc="-10">
                <a:solidFill>
                  <a:srgbClr val="404040"/>
                </a:solidFill>
                <a:latin typeface="Franklin Gothic Medium"/>
                <a:cs typeface="Franklin Gothic Medium"/>
              </a:rPr>
              <a:t>improve.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8755" rIns="0" bIns="0" rtlCol="0" vert="horz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1565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dirty="0"/>
              <a:t>MDN</a:t>
            </a:r>
            <a:r>
              <a:rPr dirty="0" spc="-35"/>
              <a:t> </a:t>
            </a:r>
            <a:r>
              <a:rPr dirty="0" spc="-70"/>
              <a:t>Web</a:t>
            </a:r>
            <a:r>
              <a:rPr dirty="0" spc="-25"/>
              <a:t> </a:t>
            </a:r>
            <a:r>
              <a:rPr dirty="0"/>
              <a:t>Docs:</a:t>
            </a:r>
            <a:r>
              <a:rPr dirty="0" spc="-30"/>
              <a:t> </a:t>
            </a:r>
            <a:r>
              <a:rPr dirty="0"/>
              <a:t>HTML,</a:t>
            </a:r>
            <a:r>
              <a:rPr dirty="0" spc="-40"/>
              <a:t> </a:t>
            </a:r>
            <a:r>
              <a:rPr dirty="0"/>
              <a:t>CSS,</a:t>
            </a:r>
            <a:r>
              <a:rPr dirty="0" spc="-40"/>
              <a:t> </a:t>
            </a:r>
            <a:r>
              <a:rPr dirty="0" spc="-10"/>
              <a:t>JavaScript</a:t>
            </a:r>
          </a:p>
          <a:p>
            <a:pPr marL="318770" indent="-306070">
              <a:lnSpc>
                <a:spcPct val="100000"/>
              </a:lnSpc>
              <a:spcBef>
                <a:spcPts val="1460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dirty="0" spc="-20"/>
              <a:t>W3Schools:</a:t>
            </a:r>
            <a:r>
              <a:rPr dirty="0" spc="-80"/>
              <a:t> </a:t>
            </a:r>
            <a:r>
              <a:rPr dirty="0"/>
              <a:t>Quiz</a:t>
            </a:r>
            <a:r>
              <a:rPr dirty="0" spc="-100"/>
              <a:t> </a:t>
            </a:r>
            <a:r>
              <a:rPr dirty="0" spc="-35"/>
              <a:t>App</a:t>
            </a:r>
            <a:r>
              <a:rPr dirty="0" spc="-80"/>
              <a:t> </a:t>
            </a:r>
            <a:r>
              <a:rPr dirty="0" spc="-10"/>
              <a:t>Example</a:t>
            </a:r>
          </a:p>
          <a:p>
            <a:pPr marL="318770" indent="-306070">
              <a:lnSpc>
                <a:spcPct val="100000"/>
              </a:lnSpc>
              <a:spcBef>
                <a:spcPts val="1465"/>
              </a:spcBef>
              <a:buClr>
                <a:srgbClr val="1CACE3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dirty="0" spc="-20"/>
              <a:t>Stack</a:t>
            </a:r>
            <a:r>
              <a:rPr dirty="0" spc="-105"/>
              <a:t> </a:t>
            </a:r>
            <a:r>
              <a:rPr dirty="0" spc="-20"/>
              <a:t>Overflow</a:t>
            </a:r>
            <a:r>
              <a:rPr dirty="0" spc="-80"/>
              <a:t> </a:t>
            </a:r>
            <a:r>
              <a:rPr dirty="0" spc="-45"/>
              <a:t>community</a:t>
            </a:r>
            <a:r>
              <a:rPr dirty="0" spc="-100"/>
              <a:t> </a:t>
            </a:r>
            <a:r>
              <a:rPr dirty="0"/>
              <a:t>discussions</a:t>
            </a:r>
            <a:r>
              <a:rPr dirty="0" spc="-110"/>
              <a:t> </a:t>
            </a:r>
            <a:r>
              <a:rPr dirty="0"/>
              <a:t>for</a:t>
            </a:r>
            <a:r>
              <a:rPr dirty="0" spc="-85"/>
              <a:t> </a:t>
            </a:r>
            <a:r>
              <a:rPr dirty="0" spc="-30"/>
              <a:t>interactive</a:t>
            </a:r>
            <a:r>
              <a:rPr dirty="0" spc="-110"/>
              <a:t> </a:t>
            </a:r>
            <a:r>
              <a:rPr dirty="0"/>
              <a:t>quiz</a:t>
            </a:r>
            <a:r>
              <a:rPr dirty="0" spc="-95"/>
              <a:t> </a:t>
            </a:r>
            <a:r>
              <a:rPr dirty="0" spc="-10"/>
              <a:t>implementation</a:t>
            </a:r>
          </a:p>
          <a:p>
            <a:pPr marL="318770">
              <a:lnSpc>
                <a:spcPct val="100000"/>
              </a:lnSpc>
              <a:spcBef>
                <a:spcPts val="290"/>
              </a:spcBef>
            </a:pPr>
            <a:r>
              <a:rPr dirty="0" spc="-10"/>
              <a:t>techniques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6345" y="3598290"/>
            <a:ext cx="21329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1F5F"/>
                </a:solidFill>
              </a:rPr>
              <a:t>THANK</a:t>
            </a:r>
            <a:r>
              <a:rPr dirty="0" sz="2800" spc="-145">
                <a:solidFill>
                  <a:srgbClr val="001F5F"/>
                </a:solidFill>
              </a:rPr>
              <a:t> </a:t>
            </a:r>
            <a:r>
              <a:rPr dirty="0" sz="2800" spc="-25">
                <a:solidFill>
                  <a:srgbClr val="001F5F"/>
                </a:solidFill>
              </a:rPr>
              <a:t>YOU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Vaibhav Ostwal</dc:creator>
  <dc:title>SkillsBuild Partner Update template</dc:title>
  <dcterms:created xsi:type="dcterms:W3CDTF">2025-10-18T04:14:46Z</dcterms:created>
  <dcterms:modified xsi:type="dcterms:W3CDTF">2025-10-18T04:14:46Z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2025-09-29T00:00:00Z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2025-10-18T00:00:00Z</vt:filetime>
  </property>
  <property fmtid="{D5CDD505-2E9C-101B-9397-08002B2CF9AE}" pid="5" name="Producer">
    <vt:lpwstr>Microsoft® PowerPoint® 2021</vt:lpwstr>
  </property>
</Properties>
</file>